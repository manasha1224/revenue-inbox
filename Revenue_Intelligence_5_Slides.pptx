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ESCALATIONS &amp; COMMITMENTS  |  Priority 1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Urgent Customer Escalations &amp; Same-Day Commitments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Direct threats to customer retention with explicit same-day commitments.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Willowfield Systems (M07) — 4 High-Impact Software Bugs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Line Item Editing (T3–7): </a:t>
            </a:r>
            <a:r>
              <a:rPr b="0">
                <a:solidFill>
                  <a:srgbClr val="475569"/>
                </a:solidFill>
              </a:rPr>
              <a:t>Description fails to update after saving invoice edits.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Receipt Uploads (T8–15): </a:t>
            </a:r>
            <a:r>
              <a:rPr b="0">
                <a:solidFill>
                  <a:srgbClr val="475569"/>
                </a:solidFill>
              </a:rPr>
              <a:t>Upload crashes on Recreate payment flow; workaround via inbox is unscalable.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Reimbursements Frozen (T16–19): </a:t>
            </a:r>
            <a:r>
              <a:rPr b="0">
                <a:solidFill>
                  <a:srgbClr val="475569"/>
                </a:solidFill>
              </a:rPr>
              <a:t>Employee expense payouts stuck in 'Processing' for &gt;48h; update promised 'in an hour or two'.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Payment Status Sync (T21–25): </a:t>
            </a:r>
            <a:r>
              <a:rPr b="0">
                <a:solidFill>
                  <a:srgbClr val="475569"/>
                </a:solidFill>
              </a:rPr>
              <a:t>'Mark as paid' retains stale transaction amount instead of new total.</a:t>
            </a:r>
          </a:p>
          <a:p>
            <a:pPr>
              <a:spcBef>
                <a:spcPts val="1000"/>
              </a:spcBef>
              <a:defRPr sz="950" i="1">
                <a:solidFill>
                  <a:srgbClr val="475569"/>
                </a:solidFill>
              </a:defRPr>
            </a:pPr>
            <a:r>
              <a:t>Owner: Team member A | Boundary: Engineering root cause not established.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9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Horizon Onboarding (M09) — Authentication &amp; Governance Blocker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Token Expiry (T21): </a:t>
            </a:r>
            <a:r>
              <a:rPr b="0">
                <a:solidFill>
                  <a:srgbClr val="475569"/>
                </a:solidFill>
              </a:rPr>
              <a:t>Fresh password reset link immediately states 'token has expired', blocking admin payroll processing.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Governance Risk (T11–18): </a:t>
            </a:r>
            <a:r>
              <a:rPr b="0">
                <a:solidFill>
                  <a:srgbClr val="475569"/>
                </a:solidFill>
              </a:rPr>
              <a:t>Shared accounts mailbox requiring full administrator rights violates customer internal segregation of duties.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Commitment (T22/T31): </a:t>
            </a:r>
            <a:r>
              <a:rPr b="0">
                <a:solidFill>
                  <a:srgbClr val="475569"/>
                </a:solidFill>
              </a:rPr>
              <a:t>CS committed definitive update 'today, or by Monday'.</a:t>
            </a:r>
          </a:p>
          <a:p>
            <a:pPr>
              <a:spcBef>
                <a:spcPts val="1000"/>
              </a:spcBef>
              <a:defRPr sz="950" i="1">
                <a:solidFill>
                  <a:srgbClr val="475569"/>
                </a:solidFill>
              </a:defRPr>
            </a:pPr>
            <a:r>
              <a:t>Owner: CS Lead | Boundary: Requires IT-approved distinct role permissions.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STRATEGIC ACTION: </a:t>
            </a:r>
            <a:r>
              <a:rPr b="0" sz="1050">
                <a:solidFill>
                  <a:srgbClr val="FFFFFF"/>
                </a:solidFill>
              </a:rPr>
              <a:t>Immediate dispatch to payment gateway engineering for M07 reimbursement queue. Deliver customer updates before 18:00 IST to preserve SLA commitments.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PRODUCT POSITIONING  |  Priority 2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Structural Product Gap: Prepaid vs. Corporate Credit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Commercial deals and migrations stalling due to corporate credit demands.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Asterloom (M03) — Expectation Disconnect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Product Misalignment (T6): </a:t>
            </a:r>
            <a:r>
              <a:rPr b="0">
                <a:solidFill>
                  <a:srgbClr val="475569"/>
                </a:solidFill>
              </a:rPr>
              <a:t>Finance lead: 'I had thought about a corporate credit card'. SpendNest pitched prepaid wallet card.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Unconfirmed Feature Promise (T16): </a:t>
            </a:r>
            <a:r>
              <a:rPr b="0">
                <a:solidFill>
                  <a:srgbClr val="475569"/>
                </a:solidFill>
              </a:rPr>
              <a:t>Rep promised automatic accounting sync as 'something we can build', unverified by roadmap.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Pricing Confusion (T22–24): </a:t>
            </a:r>
            <a:r>
              <a:rPr b="0">
                <a:solidFill>
                  <a:srgbClr val="475569"/>
                </a:solidFill>
              </a:rPr>
              <a:t>Client confused by INR 39,000 (multi-entity) vs INR 26,000 (single-entity) fee schedules.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Decision Stage (T28/T36): </a:t>
            </a:r>
            <a:r>
              <a:rPr b="0">
                <a:solidFill>
                  <a:srgbClr val="475569"/>
                </a:solidFill>
              </a:rPr>
              <a:t>CFO evaluation pending revised written proposal.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9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Cedarwave (M04) — Migration Bottleneck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Programme Sunset (T4): </a:t>
            </a:r>
            <a:r>
              <a:rPr b="0">
                <a:solidFill>
                  <a:srgbClr val="475569"/>
                </a:solidFill>
              </a:rPr>
              <a:t>Legacy prepaid programme terminating 'in the coming weeks'.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Operational Block (T11): </a:t>
            </a:r>
            <a:r>
              <a:rPr b="0">
                <a:solidFill>
                  <a:srgbClr val="475569"/>
                </a:solidFill>
              </a:rPr>
              <a:t>Ops lead: 'moving from prepaid to credit is the main issue for us'.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Portal Limitation (T25): </a:t>
            </a:r>
            <a:r>
              <a:rPr b="0">
                <a:solidFill>
                  <a:srgbClr val="475569"/>
                </a:solidFill>
              </a:rPr>
              <a:t>Approved credit line limit is not visible in customer portal.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Internal Friction (T30–31): </a:t>
            </a:r>
            <a:r>
              <a:rPr b="0">
                <a:solidFill>
                  <a:srgbClr val="475569"/>
                </a:solidFill>
              </a:rPr>
              <a:t>Department reorganization caused duplicate cardholder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STRATEGIC ACTION: </a:t>
            </a:r>
            <a:r>
              <a:rPr b="0" sz="1050">
                <a:solidFill>
                  <a:srgbClr val="FFFFFF"/>
                </a:solidFill>
              </a:rPr>
              <a:t>Product &amp; Marketing alignment: Position corporate credit lines prominently for mid-market prospects. Accelerate Cedarwave credit line visibility before legacy prepaid shutdown.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COMMERCIAL PIPELINE  |  Priority 3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Commercial Follow-Ups &amp; Pipeline Commitments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6 time-sensitive commercial deliverables scheduled for Monday close.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1072591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1828800"/>
                <a:gridCol w="4873752"/>
                <a:gridCol w="1097280"/>
              </a:tblGrid>
              <a:tr h="53557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Account / Contact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Channel &amp; Rep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Required Commercial Deliverable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Citation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Asterloom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Meeting (team08)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Revised proposal with clear single-tier pricing by Monday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T35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Harborpath Partner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Meeting (team08)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Partnership legal docs + scalable lead tracking 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T20, T25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Willowbank Advisory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Call (Dev)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Partner proposal via chat app; follow-up call Monday 3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Dev / Siddharth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BlueSky Logistics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Call (Meera)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Send proposal to contact08@example.com referencing Raghav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Meera / Raghav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Mapletrail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Meeting (team07)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Product technical documentation + official SOC2 Type II brief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T29, 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LedgerBridge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Meeting (team09)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Supplier to deliver standard middleware deployment template by Friday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475569"/>
                          </a:solidFill>
                        </a:defRPr>
                      </a:pPr>
                      <a:r>
                        <a:t>T36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STRATEGIC ACTION: </a:t>
            </a:r>
            <a:r>
              <a:rPr b="0" sz="1050">
                <a:solidFill>
                  <a:srgbClr val="FFFFFF"/>
                </a:solidFill>
              </a:rPr>
              <a:t>Establish a unified sales operations tracking checklist for all Monday deliverables to guarantee 100% follow-up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SALES COACHING  |  Priority 4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Sales Coaching &amp; Discovery Rigor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Recurring patterns of pitch-first behavior and leading questions impacting conversion.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Cold Outreach &amp; Pitch Timing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Cold Outreach Opening (C01 — Arun): </a:t>
            </a:r>
            <a:r>
              <a:rPr b="0">
                <a:solidFill>
                  <a:srgbClr val="475569"/>
                </a:solidFill>
              </a:rPr>
              <a:t>Rep opened without clarifying value proposition, triggering instant rejection: 'I didn't ask for this call, and I'm not interested.' Directive: State value in first 10s.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Discovery Before Pitching (C05 &amp; C06): </a:t>
            </a:r>
            <a:r>
              <a:rPr b="0">
                <a:solidFill>
                  <a:srgbClr val="475569"/>
                </a:solidFill>
              </a:rPr>
              <a:t>Prospects repeatedly interrupted with 'We already have that'. Directive: Transition to diagnostic discovery questions about existing banking pain.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19" y="1600200"/>
            <a:ext cx="52120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799" y="1764792"/>
            <a:ext cx="4846319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Transparency &amp; Needs Analysis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Pricing &amp; Scope Discipline (M03): </a:t>
            </a:r>
            <a:r>
              <a:rPr b="0">
                <a:solidFill>
                  <a:srgbClr val="475569"/>
                </a:solidFill>
              </a:rPr>
              <a:t>Customer confused by INR 39k vs 26k tiers; rep made unapproved feature commitments ('something we can build'). Directive: Quote standardized pricing only.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Objective Needs Analysis (M06): </a:t>
            </a:r>
            <a:r>
              <a:rPr b="0">
                <a:solidFill>
                  <a:srgbClr val="475569"/>
                </a:solidFill>
              </a:rPr>
              <a:t>Prospect stated 260–390 invoices/mo; rep rephrased to 390–520. Directive: Never inflate or lead customer volume estimates.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COACHING CADENCE: </a:t>
            </a:r>
            <a:r>
              <a:rPr b="0" sz="1050">
                <a:solidFill>
                  <a:srgbClr val="FFFFFF"/>
                </a:solidFill>
              </a:rPr>
              <a:t>Implement mandatory 15-minute diagnostic role-play before outbound dialing campaigns; enforce zero unverified roadmap commitments.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DATA GOVERNANCE  |  Priority 5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Data Hygiene, CRM Conflicts &amp; Governance Boundaries</a:t>
            </a:r>
          </a:p>
          <a:p>
            <a:pPr>
              <a:spcBef>
                <a:spcPts val="300"/>
              </a:spcBef>
              <a:defRPr sz="1200">
                <a:solidFill>
                  <a:srgbClr val="475569"/>
                </a:solidFill>
              </a:defRPr>
            </a:pPr>
            <a:r>
              <a:t>Reconciling discrepancies between automated CRM labels and verified audio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3017520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Label &amp; Rep Conflicts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False Conversation (C02): </a:t>
            </a:r>
            <a:r>
              <a:rPr b="0">
                <a:solidFill>
                  <a:srgbClr val="475569"/>
                </a:solidFill>
              </a:rPr>
              <a:t>Logged is_conversation=true, but transcript shows gatekeeper only: Leela out of office.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Rep Identity Mismatch (C06): </a:t>
            </a:r>
            <a:r>
              <a:rPr b="0">
                <a:solidFill>
                  <a:srgbClr val="475569"/>
                </a:solidFill>
              </a:rPr>
              <a:t>CRM logs rep as Meera; audio clearly starts: 'Ravi here from the enterprise team'.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64792"/>
            <a:ext cx="3017520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Outcome &amp; Phantom Logs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Outcome Conflict (C10): </a:t>
            </a:r>
            <a:r>
              <a:rPr b="0">
                <a:solidFill>
                  <a:srgbClr val="475569"/>
                </a:solidFill>
              </a:rPr>
              <a:t>Logged outcome: follow_up, but prospect explicitly refused further contact.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Phantom Connects (B11 &amp; B14): </a:t>
            </a:r>
            <a:r>
              <a:rPr b="0">
                <a:solidFill>
                  <a:srgbClr val="475569"/>
                </a:solidFill>
              </a:rPr>
              <a:t>Flagged connected=true with zero text; proves connection rate (36.7%) is unverified.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600200"/>
            <a:ext cx="3383279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1764792"/>
            <a:ext cx="3017520" cy="3602736"/>
          </a:xfrm>
          <a:prstGeom prst="rect">
            <a:avLst/>
          </a:prstGeom>
          <a:noFill/>
        </p:spPr>
        <p:txBody>
          <a:bodyPr wrap="square" tIns="0" lIns="0" r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Deduplication &amp; Silence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Deduplication Boundary (M04 vs M13): </a:t>
            </a:r>
            <a:r>
              <a:rPr b="0">
                <a:solidFill>
                  <a:srgbClr val="475569"/>
                </a:solidFill>
              </a:rPr>
              <a:t>Shared name 'Cedarwave' but M13 unrecorded. Never merge records on title similarity.</a:t>
            </a:r>
          </a:p>
          <a:p>
            <a:pPr>
              <a:spcAft>
                <a:spcPts val="600"/>
              </a:spcAft>
              <a:defRPr b="1" sz="1050">
                <a:solidFill>
                  <a:srgbClr val="0F172A"/>
                </a:solidFill>
              </a:defRPr>
            </a:pPr>
            <a:r>
              <a:t>•  Silent Sessions (M05, M08, M11): </a:t>
            </a:r>
            <a:r>
              <a:rPr b="0">
                <a:solidFill>
                  <a:srgbClr val="475569"/>
                </a:solidFill>
              </a:rPr>
              <a:t>Zero-turn meetings correctly routed as Unprocessed; no invented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15000"/>
            <a:ext cx="10725912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➤  GOVERNANCE DIRECTIVE: </a:t>
            </a:r>
            <a:r>
              <a:rPr b="0" sz="1050">
                <a:solidFill>
                  <a:srgbClr val="FFFFFF"/>
                </a:solidFill>
              </a:rPr>
              <a:t>Implement automated CRM audit checks to flag transcript vs. outcome metadata mismatches before managerial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